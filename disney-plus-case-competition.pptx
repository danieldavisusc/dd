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Spline Sans"/>
      <p:regular r:id="rId19"/>
      <p:bold r:id="rId20"/>
    </p:embeddedFont>
    <p:embeddedFont>
      <p:font typeface="Lexend Light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Spline Sans Light"/>
      <p:regular r:id="rId31"/>
      <p:bold r:id="rId32"/>
    </p:embeddedFont>
    <p:embeddedFont>
      <p:font typeface="Montserrat Medium"/>
      <p:regular r:id="rId33"/>
      <p:bold r:id="rId34"/>
      <p:italic r:id="rId35"/>
      <p:boldItalic r:id="rId36"/>
    </p:embeddedFont>
    <p:embeddedFont>
      <p:font typeface="Fugaz One"/>
      <p:regular r:id="rId37"/>
    </p:embeddedFont>
    <p:embeddedFont>
      <p:font typeface="Lexend"/>
      <p:regular r:id="rId38"/>
      <p:bold r:id="rId39"/>
    </p:embeddedFont>
    <p:embeddedFont>
      <p:font typeface="Spline Sans Medium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BB0EA1-A145-455E-8851-C54284BB4E1F}">
  <a:tblStyle styleId="{CDBB0EA1-A145-455E-8851-C54284BB4E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lineSansMedium-regular.fntdata"/><Relationship Id="rId20" Type="http://schemas.openxmlformats.org/officeDocument/2006/relationships/font" Target="fonts/SplineSans-bold.fntdata"/><Relationship Id="rId41" Type="http://schemas.openxmlformats.org/officeDocument/2006/relationships/font" Target="fonts/SplineSansMedium-bold.fntdata"/><Relationship Id="rId22" Type="http://schemas.openxmlformats.org/officeDocument/2006/relationships/font" Target="fonts/LexendLight-bold.fntdata"/><Relationship Id="rId21" Type="http://schemas.openxmlformats.org/officeDocument/2006/relationships/font" Target="fonts/LexendLight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plineSansLight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4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3.xml"/><Relationship Id="rId32" Type="http://schemas.openxmlformats.org/officeDocument/2006/relationships/font" Target="fonts/SplineSansLight-bold.fntdata"/><Relationship Id="rId13" Type="http://schemas.openxmlformats.org/officeDocument/2006/relationships/slide" Target="slides/slide6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5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8.xml"/><Relationship Id="rId37" Type="http://schemas.openxmlformats.org/officeDocument/2006/relationships/font" Target="fonts/FugazOne-regular.fntdata"/><Relationship Id="rId14" Type="http://schemas.openxmlformats.org/officeDocument/2006/relationships/slide" Target="slides/slide7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0.xml"/><Relationship Id="rId39" Type="http://schemas.openxmlformats.org/officeDocument/2006/relationships/font" Target="fonts/Lexend-bold.fntdata"/><Relationship Id="rId16" Type="http://schemas.openxmlformats.org/officeDocument/2006/relationships/slide" Target="slides/slide9.xml"/><Relationship Id="rId38" Type="http://schemas.openxmlformats.org/officeDocument/2006/relationships/font" Target="fonts/Lexend-regular.fntdata"/><Relationship Id="rId19" Type="http://schemas.openxmlformats.org/officeDocument/2006/relationships/font" Target="fonts/SplineSans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9f7792b52_3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f9f7792b52_3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9f7792b52_3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9f7792b52_3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9f7792b52_3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9f7792b52_3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9f7792b52_3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f9f7792b52_3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9f7792b52_3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f9f7792b52_3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9f7792b52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f9f7792b52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9f7792b52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f9f7792b52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9f7792b52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9f7792b52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a01b40d29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fa01b40d2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9f7792b52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f9f7792b52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21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9f7792b52_3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f9f7792b52_3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62" name="Google Shape;62;p14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20" name="Google Shape;120;p14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1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2" name="Google Shape;142;p1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143" name="Google Shape;143;p1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148" name="Google Shape;148;p19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06" name="Google Shape;206;p19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20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6" name="Google Shape;216;p20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7" name="Google Shape;217;p20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0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0" name="Google Shape;220;p20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1" name="Google Shape;221;p20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2" name="Google Shape;222;p20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" name="Google Shape;225;p20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6" name="Google Shape;226;p20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2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2" name="Google Shape;232;p21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3" name="Google Shape;233;p21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4" name="Google Shape;234;p21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1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7" name="Google Shape;237;p21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8" name="Google Shape;238;p21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2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22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2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22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7" name="Google Shape;247;p22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8" name="Google Shape;248;p2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2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54" name="Google Shape;254;p23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6" name="Google Shape;256;p23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7" name="Google Shape;257;p23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8" name="Google Shape;258;p23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9" name="Google Shape;259;p23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23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1" name="Google Shape;261;p23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3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23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8" name="Google Shape;268;p24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24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1" name="Google Shape;271;p24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2" name="Google Shape;272;p24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3" name="Google Shape;273;p24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24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5" name="Google Shape;275;p24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5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5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" name="Google Shape;282;p25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26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6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27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3" name="Google Shape;293;p27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27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28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0" name="Google Shape;300;p28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28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5" name="Google Shape;305;p29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06" name="Google Shape;306;p29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9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9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9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9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9" name="Google Shape;319;p29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9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7" name="Google Shape;337;p29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2" name="Google Shape;352;p29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3" name="Google Shape;353;p29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6" name="Google Shape;356;p29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9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1" name="Google Shape;361;p30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62" name="Google Shape;362;p30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0" name="Google Shape;370;p30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7" name="Google Shape;397;p30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2" name="Google Shape;402;p30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6" name="Google Shape;406;p30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9" name="Google Shape;409;p30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30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5" name="Google Shape;415;p30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8" name="Google Shape;418;p3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19" name="Google Shape;419;p3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23" name="Google Shape;423;p3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6" name="Google Shape;426;p3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27" name="Google Shape;427;p3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31" name="Google Shape;431;p32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2" name="Google Shape;432;p32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35" name="Google Shape;435;p3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36" name="Google Shape;436;p3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9" name="Google Shape;439;p3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40" name="Google Shape;440;p33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1" name="Google Shape;441;p33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33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5" name="Google Shape;445;p3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46" name="Google Shape;446;p3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3" name="Google Shape;453;p3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54" name="Google Shape;454;p3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6" name="Google Shape;456;p3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7" name="Google Shape;457;p3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3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60" name="Google Shape;460;p3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2" name="Google Shape;462;p3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64" name="Google Shape;46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4" name="Google Shape;474;p36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5" name="Google Shape;475;p36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36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36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36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36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36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36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36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36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6" name="Google Shape;486;p3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87" name="Google Shape;487;p3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9" name="Google Shape;489;p3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0" name="Google Shape;490;p3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91" name="Google Shape;491;p37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4" name="Google Shape;49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38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6" name="Google Shape;496;p38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97" name="Google Shape;497;p38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98" name="Google Shape;498;p38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1" name="Google Shape;501;p38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02" name="Google Shape;502;p38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3" name="Google Shape;503;p38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4" name="Google Shape;504;p38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5" name="Google Shape;505;p38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6" name="Google Shape;506;p38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8" name="Google Shape;508;p38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0" name="Google Shape;510;p38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8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4" name="Google Shape;514;p3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515" name="Google Shape;515;p3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7" name="Google Shape;517;p3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8" name="Google Shape;518;p3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19" name="Google Shape;519;p39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40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p40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4" name="Google Shape;524;p40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25" name="Google Shape;525;p40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6" name="Google Shape;526;p40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528" name="Google Shape;528;p40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41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3" name="Google Shape;533;p41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34" name="Google Shape;534;p41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6" name="Google Shape;536;p41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537" name="Google Shape;537;p41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4" name="Google Shape;544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5" name="Google Shape;5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jpg"/><Relationship Id="rId5" Type="http://schemas.openxmlformats.org/officeDocument/2006/relationships/image" Target="../media/image15.jp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79E"/>
            </a:gs>
            <a:gs pos="100000">
              <a:srgbClr val="0303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4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1" name="Google Shape;551;p44"/>
          <p:cNvSpPr txBox="1"/>
          <p:nvPr>
            <p:ph type="title"/>
          </p:nvPr>
        </p:nvSpPr>
        <p:spPr>
          <a:xfrm>
            <a:off x="831300" y="1399800"/>
            <a:ext cx="7481400" cy="23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Delta Sigma Pi Recruitment</a:t>
            </a:r>
            <a:endParaRPr sz="21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Disney+ </a:t>
            </a:r>
            <a:r>
              <a:rPr lang="en" sz="53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Case Solution</a:t>
            </a:r>
            <a:endParaRPr sz="53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552" name="Google Shape;552;p44"/>
          <p:cNvSpPr txBox="1"/>
          <p:nvPr>
            <p:ph idx="3" type="body"/>
          </p:nvPr>
        </p:nvSpPr>
        <p:spPr>
          <a:xfrm>
            <a:off x="338198" y="4356225"/>
            <a:ext cx="2249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September 3rd,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44"/>
          <p:cNvSpPr txBox="1"/>
          <p:nvPr>
            <p:ph idx="4" type="body"/>
          </p:nvPr>
        </p:nvSpPr>
        <p:spPr>
          <a:xfrm>
            <a:off x="5995401" y="4418325"/>
            <a:ext cx="2724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Group 3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"/>
          <p:cNvSpPr/>
          <p:nvPr/>
        </p:nvSpPr>
        <p:spPr>
          <a:xfrm>
            <a:off x="0" y="1121100"/>
            <a:ext cx="4974300" cy="402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0" name="Google Shape;560;p45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Meet the Team</a:t>
            </a:r>
            <a:endParaRPr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158734" y="1355265"/>
            <a:ext cx="1671600" cy="2344800"/>
          </a:xfrm>
          <a:prstGeom prst="rect">
            <a:avLst/>
          </a:prstGeom>
          <a:solidFill>
            <a:srgbClr val="FFFFFF"/>
          </a:solidFill>
          <a:ln cap="flat" cmpd="sng" w="10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8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1941467" y="1355265"/>
            <a:ext cx="1671600" cy="2344800"/>
          </a:xfrm>
          <a:prstGeom prst="rect">
            <a:avLst/>
          </a:prstGeom>
          <a:solidFill>
            <a:srgbClr val="FFFFFF"/>
          </a:solidFill>
          <a:ln cap="flat" cmpd="sng" w="10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8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3724201" y="1355265"/>
            <a:ext cx="1671600" cy="2344800"/>
          </a:xfrm>
          <a:prstGeom prst="rect">
            <a:avLst/>
          </a:prstGeom>
          <a:solidFill>
            <a:srgbClr val="FFFFFF"/>
          </a:solidFill>
          <a:ln cap="flat" cmpd="sng" w="10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8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4" name="Google Shape;564;p45"/>
          <p:cNvSpPr/>
          <p:nvPr/>
        </p:nvSpPr>
        <p:spPr>
          <a:xfrm>
            <a:off x="5506935" y="1355265"/>
            <a:ext cx="1695600" cy="2344800"/>
          </a:xfrm>
          <a:prstGeom prst="rect">
            <a:avLst/>
          </a:prstGeom>
          <a:solidFill>
            <a:srgbClr val="FFFFFF"/>
          </a:solidFill>
          <a:ln cap="flat" cmpd="sng" w="10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8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5" name="Google Shape;565;p45"/>
          <p:cNvSpPr/>
          <p:nvPr/>
        </p:nvSpPr>
        <p:spPr>
          <a:xfrm>
            <a:off x="7289669" y="1355265"/>
            <a:ext cx="1695600" cy="2344800"/>
          </a:xfrm>
          <a:prstGeom prst="rect">
            <a:avLst/>
          </a:prstGeom>
          <a:solidFill>
            <a:srgbClr val="FFFFFF"/>
          </a:solidFill>
          <a:ln cap="flat" cmpd="sng" w="10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75" lIns="97175" spcFirstLastPara="1" rIns="97175" wrap="square" tIns="9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8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6" name="Google Shape;566;p45"/>
          <p:cNvSpPr txBox="1"/>
          <p:nvPr/>
        </p:nvSpPr>
        <p:spPr>
          <a:xfrm>
            <a:off x="173633" y="3740547"/>
            <a:ext cx="1641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Rylie Armstrong</a:t>
            </a:r>
            <a:endParaRPr b="1" sz="1242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42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Marketing</a:t>
            </a:r>
            <a:endParaRPr i="1" sz="1242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7" name="Google Shape;567;p45"/>
          <p:cNvPicPr preferRelativeResize="0"/>
          <p:nvPr/>
        </p:nvPicPr>
        <p:blipFill rotWithShape="1">
          <a:blip r:embed="rId3">
            <a:alphaModFix/>
          </a:blip>
          <a:srcRect b="0" l="30251" r="24510" t="0"/>
          <a:stretch/>
        </p:blipFill>
        <p:spPr>
          <a:xfrm>
            <a:off x="248716" y="1415835"/>
            <a:ext cx="1491638" cy="2198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5" title="IMG_2934.JPG"/>
          <p:cNvPicPr preferRelativeResize="0"/>
          <p:nvPr/>
        </p:nvPicPr>
        <p:blipFill rotWithShape="1">
          <a:blip r:embed="rId4">
            <a:alphaModFix/>
          </a:blip>
          <a:srcRect b="32045" l="31726" r="26080" t="28511"/>
          <a:stretch/>
        </p:blipFill>
        <p:spPr>
          <a:xfrm>
            <a:off x="5576753" y="1428136"/>
            <a:ext cx="1549507" cy="21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5"/>
          <p:cNvSpPr txBox="1"/>
          <p:nvPr/>
        </p:nvSpPr>
        <p:spPr>
          <a:xfrm>
            <a:off x="5521835" y="3740547"/>
            <a:ext cx="1641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Audrey Linton</a:t>
            </a:r>
            <a:endParaRPr b="1" sz="1242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42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Business</a:t>
            </a:r>
            <a:endParaRPr i="1" sz="1242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0" name="Google Shape;570;p45"/>
          <p:cNvSpPr txBox="1"/>
          <p:nvPr/>
        </p:nvSpPr>
        <p:spPr>
          <a:xfrm>
            <a:off x="1956367" y="3740547"/>
            <a:ext cx="1641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Joseph Robinson</a:t>
            </a:r>
            <a:endParaRPr b="1" sz="1242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42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Finance</a:t>
            </a:r>
            <a:endParaRPr i="1" sz="1242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3754001" y="3740547"/>
            <a:ext cx="1641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Daniel Davis</a:t>
            </a:r>
            <a:endParaRPr b="1" sz="1242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42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Finance</a:t>
            </a:r>
            <a:endParaRPr i="1" sz="1242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2" name="Google Shape;572;p45"/>
          <p:cNvSpPr txBox="1"/>
          <p:nvPr/>
        </p:nvSpPr>
        <p:spPr>
          <a:xfrm>
            <a:off x="7334369" y="3740547"/>
            <a:ext cx="1641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Reece Foster </a:t>
            </a:r>
            <a:endParaRPr b="1" sz="1242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42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Economics</a:t>
            </a:r>
            <a:endParaRPr i="1" sz="1242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73" name="Google Shape;573;p45"/>
          <p:cNvPicPr preferRelativeResize="0"/>
          <p:nvPr/>
        </p:nvPicPr>
        <p:blipFill rotWithShape="1">
          <a:blip r:embed="rId5">
            <a:alphaModFix/>
          </a:blip>
          <a:srcRect b="21751" l="19724" r="19718" t="17694"/>
          <a:stretch/>
        </p:blipFill>
        <p:spPr>
          <a:xfrm>
            <a:off x="7364350" y="1428136"/>
            <a:ext cx="1549505" cy="21736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" name="Google Shape;574;p45"/>
          <p:cNvCxnSpPr>
            <a:stCxn id="560" idx="3"/>
          </p:cNvCxnSpPr>
          <p:nvPr/>
        </p:nvCxnSpPr>
        <p:spPr>
          <a:xfrm flipH="1" rot="10800000">
            <a:off x="4828250" y="883000"/>
            <a:ext cx="2634900" cy="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45"/>
          <p:cNvSpPr/>
          <p:nvPr/>
        </p:nvSpPr>
        <p:spPr>
          <a:xfrm>
            <a:off x="0" y="4448175"/>
            <a:ext cx="9144000" cy="695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76" name="Google Shape;576;p45"/>
          <p:cNvPicPr preferRelativeResize="0"/>
          <p:nvPr/>
        </p:nvPicPr>
        <p:blipFill rotWithShape="1">
          <a:blip r:embed="rId6">
            <a:alphaModFix/>
          </a:blip>
          <a:srcRect b="0" l="7507" r="9636" t="0"/>
          <a:stretch/>
        </p:blipFill>
        <p:spPr>
          <a:xfrm>
            <a:off x="7799774" y="425700"/>
            <a:ext cx="1023350" cy="69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5" title="2BBD2D40-8505-4250-9011-75D4E28C13BE.PNG"/>
          <p:cNvPicPr preferRelativeResize="0"/>
          <p:nvPr/>
        </p:nvPicPr>
        <p:blipFill rotWithShape="1">
          <a:blip r:embed="rId7">
            <a:alphaModFix/>
          </a:blip>
          <a:srcRect b="34006" l="28557" r="29741" t="19896"/>
          <a:stretch/>
        </p:blipFill>
        <p:spPr>
          <a:xfrm>
            <a:off x="2031450" y="1423400"/>
            <a:ext cx="1491624" cy="219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5"/>
          <p:cNvPicPr preferRelativeResize="0"/>
          <p:nvPr/>
        </p:nvPicPr>
        <p:blipFill rotWithShape="1">
          <a:blip r:embed="rId8">
            <a:alphaModFix/>
          </a:blip>
          <a:srcRect b="18990" l="10547" r="12584" t="18790"/>
          <a:stretch/>
        </p:blipFill>
        <p:spPr>
          <a:xfrm>
            <a:off x="3844300" y="1428125"/>
            <a:ext cx="1442925" cy="217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6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4" name="Google Shape;584;p46"/>
          <p:cNvSpPr/>
          <p:nvPr/>
        </p:nvSpPr>
        <p:spPr>
          <a:xfrm>
            <a:off x="4566061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5430313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6" name="Google Shape;586;p46"/>
          <p:cNvSpPr/>
          <p:nvPr/>
        </p:nvSpPr>
        <p:spPr>
          <a:xfrm>
            <a:off x="6292896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7" name="Google Shape;587;p46"/>
          <p:cNvSpPr/>
          <p:nvPr/>
        </p:nvSpPr>
        <p:spPr>
          <a:xfrm>
            <a:off x="8019750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7147752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89" name="Google Shape;589;p46"/>
          <p:cNvSpPr/>
          <p:nvPr/>
        </p:nvSpPr>
        <p:spPr>
          <a:xfrm>
            <a:off x="397800" y="1459825"/>
            <a:ext cx="8348400" cy="335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4600" lIns="94600" spcFirstLastPara="1" rIns="94600" wrap="square" tIns="9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>
              <a:solidFill>
                <a:schemeClr val="accent3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90" name="Google Shape;590;p46"/>
          <p:cNvSpPr txBox="1"/>
          <p:nvPr>
            <p:ph idx="1" type="subTitle"/>
          </p:nvPr>
        </p:nvSpPr>
        <p:spPr>
          <a:xfrm>
            <a:off x="572500" y="1560500"/>
            <a:ext cx="5720400" cy="3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pline Sans"/>
              <a:buAutoNum type="arabicPeriod"/>
            </a:pPr>
            <a:r>
              <a:rPr b="1" lang="en" sz="2400">
                <a:solidFill>
                  <a:srgbClr val="FFFFFF"/>
                </a:solidFill>
                <a:latin typeface="Spline Sans"/>
                <a:ea typeface="Spline Sans"/>
                <a:cs typeface="Spline Sans"/>
                <a:sym typeface="Spline Sans"/>
              </a:rPr>
              <a:t>Current Environment</a:t>
            </a:r>
            <a:endParaRPr b="1" sz="24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pline Sans"/>
              <a:buAutoNum type="arabicPeriod"/>
            </a:pPr>
            <a:r>
              <a:rPr b="1" lang="en" sz="2400">
                <a:solidFill>
                  <a:srgbClr val="FFFFFF"/>
                </a:solidFill>
                <a:latin typeface="Spline Sans"/>
                <a:ea typeface="Spline Sans"/>
                <a:cs typeface="Spline Sans"/>
                <a:sym typeface="Spline Sans"/>
              </a:rPr>
              <a:t>S.W.O.T. Analysis</a:t>
            </a:r>
            <a:endParaRPr b="1" sz="24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pline Sans"/>
              <a:buAutoNum type="arabicPeriod"/>
            </a:pPr>
            <a:r>
              <a:rPr b="1" lang="en" sz="2400">
                <a:solidFill>
                  <a:srgbClr val="FFFFFF"/>
                </a:solidFill>
                <a:latin typeface="Spline Sans"/>
                <a:ea typeface="Spline Sans"/>
                <a:cs typeface="Spline Sans"/>
                <a:sym typeface="Spline Sans"/>
              </a:rPr>
              <a:t>Strategy</a:t>
            </a:r>
            <a:endParaRPr b="1" sz="24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pline Sans"/>
              <a:buAutoNum type="arabicPeriod"/>
            </a:pPr>
            <a:r>
              <a:rPr b="1" lang="en" sz="2400">
                <a:solidFill>
                  <a:srgbClr val="FFFFFF"/>
                </a:solidFill>
                <a:latin typeface="Spline Sans"/>
                <a:ea typeface="Spline Sans"/>
                <a:cs typeface="Spline Sans"/>
                <a:sym typeface="Spline Sans"/>
              </a:rPr>
              <a:t>Implementation</a:t>
            </a:r>
            <a:endParaRPr b="1" sz="24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pline Sans"/>
              <a:buAutoNum type="arabicPeriod"/>
            </a:pPr>
            <a:r>
              <a:rPr b="1" lang="en" sz="2400">
                <a:solidFill>
                  <a:srgbClr val="FFFFFF"/>
                </a:solidFill>
                <a:latin typeface="Spline Sans"/>
                <a:ea typeface="Spline Sans"/>
                <a:cs typeface="Spline Sans"/>
                <a:sym typeface="Spline Sans"/>
              </a:rPr>
              <a:t>Key Performance Indicators (KPIs)</a:t>
            </a:r>
            <a:endParaRPr b="1" sz="2400">
              <a:solidFill>
                <a:srgbClr val="FFFFFF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591" name="Google Shape;591;p46"/>
          <p:cNvSpPr txBox="1"/>
          <p:nvPr>
            <p:ph type="title"/>
          </p:nvPr>
        </p:nvSpPr>
        <p:spPr>
          <a:xfrm>
            <a:off x="408650" y="463000"/>
            <a:ext cx="3181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Agenda</a:t>
            </a:r>
            <a:endParaRPr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cxnSp>
        <p:nvCxnSpPr>
          <p:cNvPr id="592" name="Google Shape;592;p46"/>
          <p:cNvCxnSpPr/>
          <p:nvPr/>
        </p:nvCxnSpPr>
        <p:spPr>
          <a:xfrm flipH="1" rot="10800000">
            <a:off x="2913100" y="874600"/>
            <a:ext cx="5636400" cy="10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3" name="Google Shape;593;p46"/>
          <p:cNvPicPr preferRelativeResize="0"/>
          <p:nvPr/>
        </p:nvPicPr>
        <p:blipFill rotWithShape="1">
          <a:blip r:embed="rId3">
            <a:alphaModFix/>
          </a:blip>
          <a:srcRect b="14315" l="6326" r="7481" t="14959"/>
          <a:stretch/>
        </p:blipFill>
        <p:spPr>
          <a:xfrm>
            <a:off x="4486325" y="1848400"/>
            <a:ext cx="4063174" cy="187542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99" name="Google Shape;599;p47"/>
          <p:cNvSpPr/>
          <p:nvPr/>
        </p:nvSpPr>
        <p:spPr>
          <a:xfrm>
            <a:off x="4566061" y="20477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0" name="Google Shape;600;p47"/>
          <p:cNvSpPr/>
          <p:nvPr/>
        </p:nvSpPr>
        <p:spPr>
          <a:xfrm>
            <a:off x="5430313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1" name="Google Shape;601;p47"/>
          <p:cNvSpPr/>
          <p:nvPr/>
        </p:nvSpPr>
        <p:spPr>
          <a:xfrm>
            <a:off x="6292896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2" name="Google Shape;602;p47"/>
          <p:cNvSpPr/>
          <p:nvPr/>
        </p:nvSpPr>
        <p:spPr>
          <a:xfrm>
            <a:off x="8019750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3" name="Google Shape;603;p47"/>
          <p:cNvSpPr/>
          <p:nvPr/>
        </p:nvSpPr>
        <p:spPr>
          <a:xfrm>
            <a:off x="7147752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4" name="Google Shape;604;p47"/>
          <p:cNvSpPr txBox="1"/>
          <p:nvPr>
            <p:ph type="title"/>
          </p:nvPr>
        </p:nvSpPr>
        <p:spPr>
          <a:xfrm>
            <a:off x="408650" y="463000"/>
            <a:ext cx="695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Current Environment</a:t>
            </a:r>
            <a:endParaRPr sz="3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605" name="Google Shape;605;p47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62350" y="4740700"/>
            <a:ext cx="509909" cy="3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7"/>
          <p:cNvSpPr/>
          <p:nvPr/>
        </p:nvSpPr>
        <p:spPr>
          <a:xfrm>
            <a:off x="1014925" y="1479125"/>
            <a:ext cx="1721100" cy="2498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7" name="Google Shape;607;p47"/>
          <p:cNvSpPr/>
          <p:nvPr/>
        </p:nvSpPr>
        <p:spPr>
          <a:xfrm>
            <a:off x="3596500" y="1479125"/>
            <a:ext cx="1721100" cy="2498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6178075" y="1479125"/>
            <a:ext cx="1721100" cy="2498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9" name="Google Shape;609;p47"/>
          <p:cNvSpPr/>
          <p:nvPr/>
        </p:nvSpPr>
        <p:spPr>
          <a:xfrm>
            <a:off x="2814675" y="2472425"/>
            <a:ext cx="7056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0" name="Google Shape;610;p47"/>
          <p:cNvSpPr/>
          <p:nvPr/>
        </p:nvSpPr>
        <p:spPr>
          <a:xfrm>
            <a:off x="5395038" y="2472425"/>
            <a:ext cx="7056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1" name="Google Shape;611;p47"/>
          <p:cNvSpPr/>
          <p:nvPr/>
        </p:nvSpPr>
        <p:spPr>
          <a:xfrm>
            <a:off x="1014925" y="1479125"/>
            <a:ext cx="1721100" cy="6660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2" name="Google Shape;612;p47"/>
          <p:cNvSpPr/>
          <p:nvPr/>
        </p:nvSpPr>
        <p:spPr>
          <a:xfrm>
            <a:off x="3596500" y="1479125"/>
            <a:ext cx="1721100" cy="61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3" name="Google Shape;613;p47"/>
          <p:cNvSpPr/>
          <p:nvPr/>
        </p:nvSpPr>
        <p:spPr>
          <a:xfrm>
            <a:off x="6178075" y="1479125"/>
            <a:ext cx="1721100" cy="61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4" name="Google Shape;614;p47"/>
          <p:cNvSpPr txBox="1"/>
          <p:nvPr/>
        </p:nvSpPr>
        <p:spPr>
          <a:xfrm>
            <a:off x="1103450" y="1429950"/>
            <a:ext cx="17607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Subscription Pressure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5" name="Google Shape;615;p47"/>
          <p:cNvSpPr txBox="1"/>
          <p:nvPr/>
        </p:nvSpPr>
        <p:spPr>
          <a:xfrm>
            <a:off x="1014925" y="2145925"/>
            <a:ext cx="18492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Households are cutting down to tw</a:t>
            </a:r>
            <a:r>
              <a:rPr lang="en" sz="1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o</a:t>
            </a:r>
            <a:r>
              <a:rPr lang="en" sz="1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1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core services</a:t>
            </a:r>
            <a:endParaRPr sz="1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3596550" y="1429950"/>
            <a:ext cx="16734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Competitive Intensity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3539850" y="2095950"/>
            <a:ext cx="18492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Paramount-WBD adds scale as Netflix holds strong lead in streaming</a:t>
            </a:r>
            <a:endParaRPr sz="16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6178075" y="1406550"/>
            <a:ext cx="1921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Disney’s Challenge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6138575" y="2145925"/>
            <a:ext cx="1849200" cy="17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Disney+ must become a must-keep subscription by winning the second spot</a:t>
            </a:r>
            <a:endParaRPr sz="16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20" name="Google Shape;62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42" y="3216741"/>
            <a:ext cx="818000" cy="12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8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26" name="Google Shape;626;p48"/>
          <p:cNvSpPr txBox="1"/>
          <p:nvPr>
            <p:ph type="title"/>
          </p:nvPr>
        </p:nvSpPr>
        <p:spPr>
          <a:xfrm>
            <a:off x="406050" y="3023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S.W.O.T. Analysis</a:t>
            </a:r>
            <a:endParaRPr sz="3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627" name="Google Shape;627;p48"/>
          <p:cNvSpPr/>
          <p:nvPr/>
        </p:nvSpPr>
        <p:spPr>
          <a:xfrm>
            <a:off x="4566061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28" name="Google Shape;628;p48"/>
          <p:cNvSpPr/>
          <p:nvPr/>
        </p:nvSpPr>
        <p:spPr>
          <a:xfrm>
            <a:off x="5430313" y="20477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6292896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8019750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7147752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</a:t>
            </a: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341100" y="1144100"/>
            <a:ext cx="4162200" cy="177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DCEC"/>
              </a:gs>
            </a:gsLst>
            <a:lin ang="5400012" scaled="0"/>
          </a:gra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Strengths</a:t>
            </a:r>
            <a:endParaRPr b="1" sz="2100" u="sng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 u="sng">
              <a:latin typeface="Lexend"/>
              <a:ea typeface="Lexend"/>
              <a:cs typeface="Lexend"/>
              <a:sym typeface="Lexend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Iconic IP portfolio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Diversified</a:t>
            </a: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 ecosystem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Massive scale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4659355" y="1144100"/>
            <a:ext cx="4162200" cy="177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DCEC"/>
              </a:gs>
            </a:gsLst>
            <a:lin ang="5400012" scaled="0"/>
          </a:gra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Weaknesses</a:t>
            </a:r>
            <a:endParaRPr b="1" sz="2100" u="sng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 u="sng">
              <a:latin typeface="Lexend"/>
              <a:ea typeface="Lexend"/>
              <a:cs typeface="Lexend"/>
              <a:sym typeface="Lexend"/>
            </a:endParaRPr>
          </a:p>
          <a:p>
            <a:pPr indent="-342902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-"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Low engagement frequency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2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-"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Reliance on blockbuster IP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2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-"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Sports rights disadvantage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341100" y="3105847"/>
            <a:ext cx="4162200" cy="177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DCEC"/>
              </a:gs>
            </a:gsLst>
            <a:lin ang="5400012" scaled="0"/>
          </a:gra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Opportunities</a:t>
            </a:r>
            <a:endParaRPr b="1" sz="2100" u="sng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 u="sng">
              <a:latin typeface="Lexend"/>
              <a:ea typeface="Lexend"/>
              <a:cs typeface="Lexend"/>
              <a:sym typeface="Lexend"/>
            </a:endParaRPr>
          </a:p>
          <a:p>
            <a:pPr indent="-336552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-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Expand beyond passive viewing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6552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-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Capture new audiences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6552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-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Connect physical &amp; digital 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4659355" y="3105847"/>
            <a:ext cx="4162200" cy="177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DCEC"/>
              </a:gs>
            </a:gsLst>
            <a:lin ang="5400012" scaled="0"/>
          </a:gra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Threats</a:t>
            </a:r>
            <a:endParaRPr b="1" sz="2100" u="sng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u="sng">
              <a:latin typeface="Lexend"/>
              <a:ea typeface="Lexend"/>
              <a:cs typeface="Lexend"/>
              <a:sym typeface="Lexend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Subscription fatigue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Paramount WBD merger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2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 Light"/>
              <a:buChar char="-"/>
            </a:pPr>
            <a:r>
              <a:rPr lang="en" sz="1900">
                <a:latin typeface="Lexend Light"/>
                <a:ea typeface="Lexend Light"/>
                <a:cs typeface="Lexend Light"/>
                <a:sym typeface="Lexend Light"/>
              </a:rPr>
              <a:t>Marvel IP rights</a:t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36" name="Google Shape;636;p48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373875" y="674437"/>
            <a:ext cx="509909" cy="346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7" name="Google Shape;637;p48"/>
          <p:cNvCxnSpPr/>
          <p:nvPr/>
        </p:nvCxnSpPr>
        <p:spPr>
          <a:xfrm flipH="1" rot="10800000">
            <a:off x="4031725" y="834050"/>
            <a:ext cx="4123800" cy="10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8" name="Google Shape;6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829" y="3507236"/>
            <a:ext cx="978300" cy="158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44" name="Google Shape;644;p49"/>
          <p:cNvSpPr txBox="1"/>
          <p:nvPr>
            <p:ph type="title"/>
          </p:nvPr>
        </p:nvSpPr>
        <p:spPr>
          <a:xfrm>
            <a:off x="406050" y="360025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Strategy</a:t>
            </a:r>
            <a:endParaRPr sz="3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645" name="Google Shape;645;p49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155572" y="780946"/>
            <a:ext cx="732226" cy="497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6" name="Google Shape;646;p49"/>
          <p:cNvGrpSpPr/>
          <p:nvPr/>
        </p:nvGrpSpPr>
        <p:grpSpPr>
          <a:xfrm>
            <a:off x="605712" y="1304797"/>
            <a:ext cx="7937774" cy="3444567"/>
            <a:chOff x="1423792" y="1543934"/>
            <a:chExt cx="8983447" cy="4215600"/>
          </a:xfrm>
        </p:grpSpPr>
        <p:grpSp>
          <p:nvGrpSpPr>
            <p:cNvPr id="647" name="Google Shape;647;p49"/>
            <p:cNvGrpSpPr/>
            <p:nvPr/>
          </p:nvGrpSpPr>
          <p:grpSpPr>
            <a:xfrm>
              <a:off x="1423792" y="1543934"/>
              <a:ext cx="2247001" cy="4215600"/>
              <a:chOff x="1423792" y="1543934"/>
              <a:chExt cx="2247001" cy="4215600"/>
            </a:xfrm>
          </p:grpSpPr>
          <p:grpSp>
            <p:nvGrpSpPr>
              <p:cNvPr id="648" name="Google Shape;648;p49"/>
              <p:cNvGrpSpPr/>
              <p:nvPr/>
            </p:nvGrpSpPr>
            <p:grpSpPr>
              <a:xfrm>
                <a:off x="1423792" y="1543934"/>
                <a:ext cx="2247001" cy="4215600"/>
                <a:chOff x="1423792" y="1543934"/>
                <a:chExt cx="2247001" cy="4215600"/>
              </a:xfrm>
            </p:grpSpPr>
            <p:sp>
              <p:nvSpPr>
                <p:cNvPr id="649" name="Google Shape;649;p49"/>
                <p:cNvSpPr/>
                <p:nvPr/>
              </p:nvSpPr>
              <p:spPr>
                <a:xfrm rot="-5400000">
                  <a:off x="439493" y="2528234"/>
                  <a:ext cx="4215600" cy="2247000"/>
                </a:xfrm>
                <a:prstGeom prst="homePlate">
                  <a:avLst>
                    <a:gd fmla="val 27274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0" name="Google Shape;650;p49"/>
                <p:cNvSpPr/>
                <p:nvPr/>
              </p:nvSpPr>
              <p:spPr>
                <a:xfrm>
                  <a:off x="1423792" y="2315688"/>
                  <a:ext cx="2247000" cy="1188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1" name="Google Shape;651;p49"/>
                <p:cNvSpPr/>
                <p:nvPr/>
              </p:nvSpPr>
              <p:spPr>
                <a:xfrm>
                  <a:off x="2090059" y="1858488"/>
                  <a:ext cx="914400" cy="914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2" name="Google Shape;652;p49"/>
                <p:cNvSpPr/>
                <p:nvPr/>
              </p:nvSpPr>
              <p:spPr>
                <a:xfrm>
                  <a:off x="1556672" y="3162314"/>
                  <a:ext cx="1981200" cy="2463900"/>
                </a:xfrm>
                <a:prstGeom prst="roundRect">
                  <a:avLst>
                    <a:gd fmla="val 4488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-223545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87"/>
                    <a:buFont typeface="Arial"/>
                    <a:buChar char="•"/>
                  </a:pPr>
                  <a:r>
                    <a:rPr lang="en" sz="10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Games connected to Disney+ Content Ex. Disney Wordle</a:t>
                  </a:r>
                  <a:endParaRPr sz="1087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154507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87"/>
                    <a:buFont typeface="Arial"/>
                    <a:buNone/>
                  </a:pPr>
                  <a:r>
                    <a:t/>
                  </a:r>
                  <a:endParaRPr b="0" i="0" sz="1087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223545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87"/>
                    <a:buFont typeface="Arial"/>
                    <a:buChar char="•"/>
                  </a:pPr>
                  <a:r>
                    <a:rPr lang="en" sz="10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Interactive media (Choose-Your-Own-Adventure)</a:t>
                  </a:r>
                  <a:endParaRPr sz="1302"/>
                </a:p>
                <a:p>
                  <a:pPr indent="-154507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787"/>
                    <a:buFont typeface="Arial"/>
                    <a:buNone/>
                  </a:pPr>
                  <a:r>
                    <a:t/>
                  </a:r>
                  <a:endParaRPr b="0" i="0" sz="1087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223545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87"/>
                    <a:buFont typeface="Arial"/>
                    <a:buChar char="•"/>
                  </a:pPr>
                  <a:r>
                    <a:rPr lang="en" sz="10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Game-Exclusive </a:t>
                  </a:r>
                  <a:r>
                    <a:rPr lang="en" sz="10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Disney+ </a:t>
                  </a:r>
                  <a:r>
                    <a:rPr lang="en" sz="10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Rewards</a:t>
                  </a:r>
                  <a:endParaRPr b="0" i="0" sz="987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653" name="Google Shape;653;p49"/>
              <p:cNvSpPr txBox="1"/>
              <p:nvPr/>
            </p:nvSpPr>
            <p:spPr>
              <a:xfrm>
                <a:off x="1556659" y="2772888"/>
                <a:ext cx="1981200" cy="29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2700" lIns="65425" spcFirstLastPara="1" rIns="65425" wrap="square" tIns="32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45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Disney+ Gaming</a:t>
                </a:r>
                <a:endParaRPr sz="1002"/>
              </a:p>
            </p:txBody>
          </p:sp>
        </p:grpSp>
        <p:grpSp>
          <p:nvGrpSpPr>
            <p:cNvPr id="654" name="Google Shape;654;p49"/>
            <p:cNvGrpSpPr/>
            <p:nvPr/>
          </p:nvGrpSpPr>
          <p:grpSpPr>
            <a:xfrm>
              <a:off x="4792013" y="1543934"/>
              <a:ext cx="2247001" cy="4215600"/>
              <a:chOff x="1423792" y="1543934"/>
              <a:chExt cx="2247001" cy="4215600"/>
            </a:xfrm>
          </p:grpSpPr>
          <p:grpSp>
            <p:nvGrpSpPr>
              <p:cNvPr id="655" name="Google Shape;655;p49"/>
              <p:cNvGrpSpPr/>
              <p:nvPr/>
            </p:nvGrpSpPr>
            <p:grpSpPr>
              <a:xfrm>
                <a:off x="1423792" y="1543934"/>
                <a:ext cx="2247001" cy="4215600"/>
                <a:chOff x="1423792" y="1543934"/>
                <a:chExt cx="2247001" cy="4215600"/>
              </a:xfrm>
            </p:grpSpPr>
            <p:sp>
              <p:nvSpPr>
                <p:cNvPr id="656" name="Google Shape;656;p49"/>
                <p:cNvSpPr/>
                <p:nvPr/>
              </p:nvSpPr>
              <p:spPr>
                <a:xfrm rot="-5400000">
                  <a:off x="439493" y="2528234"/>
                  <a:ext cx="4215600" cy="2247000"/>
                </a:xfrm>
                <a:prstGeom prst="homePlate">
                  <a:avLst>
                    <a:gd fmla="val 27274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7" name="Google Shape;657;p49"/>
                <p:cNvSpPr/>
                <p:nvPr/>
              </p:nvSpPr>
              <p:spPr>
                <a:xfrm>
                  <a:off x="1423792" y="2315688"/>
                  <a:ext cx="2247000" cy="1188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8" name="Google Shape;658;p49"/>
                <p:cNvSpPr/>
                <p:nvPr/>
              </p:nvSpPr>
              <p:spPr>
                <a:xfrm>
                  <a:off x="2090059" y="1858488"/>
                  <a:ext cx="914400" cy="914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59" name="Google Shape;659;p49"/>
                <p:cNvSpPr/>
                <p:nvPr/>
              </p:nvSpPr>
              <p:spPr>
                <a:xfrm>
                  <a:off x="1556659" y="3162300"/>
                  <a:ext cx="1981200" cy="2463900"/>
                </a:xfrm>
                <a:prstGeom prst="roundRect">
                  <a:avLst>
                    <a:gd fmla="val 4488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-229895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187"/>
                    <a:buFont typeface="Arial"/>
                    <a:buChar char="•"/>
                  </a:pPr>
                  <a:r>
                    <a:rPr lang="en" sz="11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Star Wars Anime Series (Similar to Star Wars: Visions)</a:t>
                  </a:r>
                  <a:endParaRPr sz="1402"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87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229895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187"/>
                    <a:buFont typeface="Arial"/>
                    <a:buChar char="•"/>
                  </a:pPr>
                  <a:r>
                    <a:rPr lang="en" sz="11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Produce Original Anime Film.</a:t>
                  </a:r>
                  <a:r>
                    <a:rPr lang="en" sz="1187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</a:t>
                  </a:r>
                  <a:endParaRPr sz="1187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660" name="Google Shape;660;p49"/>
              <p:cNvSpPr txBox="1"/>
              <p:nvPr/>
            </p:nvSpPr>
            <p:spPr>
              <a:xfrm>
                <a:off x="1556659" y="2772888"/>
                <a:ext cx="1981200" cy="29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2700" lIns="65425" spcFirstLastPara="1" rIns="65425" wrap="square" tIns="32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45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Disney: Anime</a:t>
                </a:r>
                <a:endParaRPr sz="1002"/>
              </a:p>
            </p:txBody>
          </p:sp>
        </p:grpSp>
        <p:grpSp>
          <p:nvGrpSpPr>
            <p:cNvPr id="661" name="Google Shape;661;p49"/>
            <p:cNvGrpSpPr/>
            <p:nvPr/>
          </p:nvGrpSpPr>
          <p:grpSpPr>
            <a:xfrm>
              <a:off x="8160233" y="1543934"/>
              <a:ext cx="2247006" cy="4215600"/>
              <a:chOff x="1423792" y="1543934"/>
              <a:chExt cx="2247006" cy="4215600"/>
            </a:xfrm>
          </p:grpSpPr>
          <p:grpSp>
            <p:nvGrpSpPr>
              <p:cNvPr id="662" name="Google Shape;662;p49"/>
              <p:cNvGrpSpPr/>
              <p:nvPr/>
            </p:nvGrpSpPr>
            <p:grpSpPr>
              <a:xfrm>
                <a:off x="1423792" y="1543934"/>
                <a:ext cx="2247001" cy="4215600"/>
                <a:chOff x="1423792" y="1543934"/>
                <a:chExt cx="2247001" cy="4215600"/>
              </a:xfrm>
            </p:grpSpPr>
            <p:sp>
              <p:nvSpPr>
                <p:cNvPr id="663" name="Google Shape;663;p49"/>
                <p:cNvSpPr/>
                <p:nvPr/>
              </p:nvSpPr>
              <p:spPr>
                <a:xfrm rot="-5400000">
                  <a:off x="439493" y="2528234"/>
                  <a:ext cx="4215600" cy="2247000"/>
                </a:xfrm>
                <a:prstGeom prst="homePlate">
                  <a:avLst>
                    <a:gd fmla="val 27274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4" name="Google Shape;664;p49"/>
                <p:cNvSpPr/>
                <p:nvPr/>
              </p:nvSpPr>
              <p:spPr>
                <a:xfrm>
                  <a:off x="1423792" y="2315688"/>
                  <a:ext cx="2247000" cy="1188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5" name="Google Shape;665;p49"/>
                <p:cNvSpPr/>
                <p:nvPr/>
              </p:nvSpPr>
              <p:spPr>
                <a:xfrm>
                  <a:off x="2090059" y="1858488"/>
                  <a:ext cx="914400" cy="914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288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6" name="Google Shape;666;p49"/>
                <p:cNvSpPr/>
                <p:nvPr/>
              </p:nvSpPr>
              <p:spPr>
                <a:xfrm>
                  <a:off x="1556659" y="3162300"/>
                  <a:ext cx="1981200" cy="2463900"/>
                </a:xfrm>
                <a:prstGeom prst="roundRect">
                  <a:avLst>
                    <a:gd fmla="val 4488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32700" lIns="65425" spcFirstLastPara="1" rIns="65425" wrap="square" tIns="32700">
                  <a:noAutofit/>
                </a:bodyPr>
                <a:lstStyle/>
                <a:p>
                  <a:pPr indent="-221182" lvl="0" marL="204495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50"/>
                    <a:buChar char="•"/>
                  </a:pPr>
                  <a:r>
                    <a:rPr lang="en" sz="10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Disney+ Memories: A Personal Family Video Library</a:t>
                  </a:r>
                  <a:endParaRPr sz="10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327193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221182" lvl="0" marL="204495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50"/>
                    <a:buFont typeface="Arial"/>
                    <a:buChar char="•"/>
                  </a:pPr>
                  <a:r>
                    <a:rPr lang="en" sz="10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Park-Exclusive Disney+ </a:t>
                  </a:r>
                  <a:r>
                    <a:rPr lang="en" sz="10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rewards</a:t>
                  </a:r>
                  <a:endParaRPr sz="1050"/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-221182" lvl="0" marL="204495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50"/>
                    <a:buChar char="•"/>
                  </a:pPr>
                  <a:r>
                    <a:rPr lang="en" sz="10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Disney+ User-Exclusive Park Rewards</a:t>
                  </a:r>
                  <a:endParaRPr b="0" i="0" sz="1187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667" name="Google Shape;667;p49"/>
              <p:cNvSpPr txBox="1"/>
              <p:nvPr/>
            </p:nvSpPr>
            <p:spPr>
              <a:xfrm>
                <a:off x="1423798" y="2772890"/>
                <a:ext cx="2247000" cy="29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2700" lIns="65425" spcFirstLastPara="1" rIns="65425" wrap="square" tIns="32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45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Disney+</a:t>
                </a:r>
                <a:r>
                  <a:rPr b="1" lang="en" sz="1145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Park Perks </a:t>
                </a:r>
                <a:endParaRPr sz="1002"/>
              </a:p>
            </p:txBody>
          </p:sp>
        </p:grpSp>
      </p:grpSp>
      <p:sp>
        <p:nvSpPr>
          <p:cNvPr id="668" name="Google Shape;668;p49"/>
          <p:cNvSpPr/>
          <p:nvPr/>
        </p:nvSpPr>
        <p:spPr>
          <a:xfrm>
            <a:off x="4513486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9" name="Google Shape;669;p49"/>
          <p:cNvSpPr/>
          <p:nvPr/>
        </p:nvSpPr>
        <p:spPr>
          <a:xfrm>
            <a:off x="5377738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0" name="Google Shape;670;p49"/>
          <p:cNvSpPr/>
          <p:nvPr/>
        </p:nvSpPr>
        <p:spPr>
          <a:xfrm>
            <a:off x="6240321" y="25712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1" name="Google Shape;671;p49"/>
          <p:cNvSpPr/>
          <p:nvPr/>
        </p:nvSpPr>
        <p:spPr>
          <a:xfrm>
            <a:off x="7967175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2" name="Google Shape;672;p49"/>
          <p:cNvSpPr/>
          <p:nvPr/>
        </p:nvSpPr>
        <p:spPr>
          <a:xfrm>
            <a:off x="7095177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673" name="Google Shape;673;p49"/>
          <p:cNvCxnSpPr/>
          <p:nvPr/>
        </p:nvCxnSpPr>
        <p:spPr>
          <a:xfrm>
            <a:off x="2641875" y="841775"/>
            <a:ext cx="52452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4" name="Google Shape;674;p49" title="fb5cc5f9-1642-4d57-86dc-e86a4da667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5879" y="1677375"/>
            <a:ext cx="732227" cy="48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9" title="f1741767-b719-49e2-9f8c-1593b75333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6177" y="1638810"/>
            <a:ext cx="732227" cy="48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9" title="4cf461fb-0aa0-49b2-90fa-4296dece63e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5747" y="1748197"/>
            <a:ext cx="519752" cy="346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5899" y="3938678"/>
            <a:ext cx="732225" cy="1039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91775" y="3916550"/>
            <a:ext cx="1083275" cy="10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4" name="Google Shape;684;p50"/>
          <p:cNvSpPr/>
          <p:nvPr/>
        </p:nvSpPr>
        <p:spPr>
          <a:xfrm>
            <a:off x="4513486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5" name="Google Shape;685;p50"/>
          <p:cNvSpPr/>
          <p:nvPr/>
        </p:nvSpPr>
        <p:spPr>
          <a:xfrm>
            <a:off x="5377738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6" name="Google Shape;686;p50"/>
          <p:cNvSpPr/>
          <p:nvPr/>
        </p:nvSpPr>
        <p:spPr>
          <a:xfrm>
            <a:off x="6240321" y="25712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7" name="Google Shape;687;p50"/>
          <p:cNvSpPr/>
          <p:nvPr/>
        </p:nvSpPr>
        <p:spPr>
          <a:xfrm>
            <a:off x="7967175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8" name="Google Shape;688;p50"/>
          <p:cNvSpPr/>
          <p:nvPr/>
        </p:nvSpPr>
        <p:spPr>
          <a:xfrm>
            <a:off x="7095177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89" name="Google Shape;689;p50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373875" y="674437"/>
            <a:ext cx="509909" cy="3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Strategy - Who is Our Audience?</a:t>
            </a:r>
            <a:endParaRPr sz="3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graphicFrame>
        <p:nvGraphicFramePr>
          <p:cNvPr id="691" name="Google Shape;691;p50"/>
          <p:cNvGraphicFramePr/>
          <p:nvPr/>
        </p:nvGraphicFramePr>
        <p:xfrm>
          <a:off x="591950" y="13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{CDBB0EA1-A145-455E-8851-C54284BB4E1F}</a:tableStyleId>
              </a:tblPr>
              <a:tblGrid>
                <a:gridCol w="2699475"/>
                <a:gridCol w="2699475"/>
                <a:gridCol w="2566350"/>
              </a:tblGrid>
              <a:tr h="41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Disney+ Games</a:t>
                      </a:r>
                      <a:endParaRPr b="1" sz="21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Disney: Anime</a:t>
                      </a:r>
                      <a:endParaRPr b="1" sz="21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Disney Park Perks</a:t>
                      </a:r>
                      <a:endParaRPr b="1" sz="21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1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Party Games + Trivia Games: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Targets families + young adults. Adds subscription 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value.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Ex. </a:t>
                      </a: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Jackbox 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on Netflix</a:t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Star Wars Anime Series: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Targets Gen Z, Millennials, and anime fans. Proven concept.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Ex. </a:t>
                      </a: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Star Wars: Visions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Disney+ Memories: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Targets families + 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park visitors.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Incentivizes app subscription and use.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Interactive Media: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Targets kids + teens.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Ex. You vs Wild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98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Disney+ Rewards:</a:t>
                      </a:r>
                      <a:endParaRPr b="1" sz="1300">
                        <a:solidFill>
                          <a:schemeClr val="lt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Targets all users. Sets Disney+ Games apart from competitors and incentivizes play</a:t>
                      </a:r>
                      <a:endParaRPr sz="120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Higher cost + privacy needs</a:t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692" name="Google Shape;692;p50"/>
          <p:cNvSpPr txBox="1"/>
          <p:nvPr/>
        </p:nvSpPr>
        <p:spPr>
          <a:xfrm>
            <a:off x="3291425" y="3085525"/>
            <a:ext cx="2699400" cy="1763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Spline Sans"/>
                <a:ea typeface="Spline Sans"/>
                <a:cs typeface="Spline Sans"/>
                <a:sym typeface="Spline Sans"/>
              </a:rPr>
              <a:t>Original Disney Anime Film:</a:t>
            </a:r>
            <a:endParaRPr b="1" sz="1300">
              <a:solidFill>
                <a:schemeClr val="lt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Targets kids and families.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Also retains secondary appeal to young adults and anime fans.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Ex. </a:t>
            </a:r>
            <a:r>
              <a:rPr b="1" lang="en" sz="1300">
                <a:solidFill>
                  <a:schemeClr val="lt1"/>
                </a:solidFill>
                <a:latin typeface="Spline Sans"/>
                <a:ea typeface="Spline Sans"/>
                <a:cs typeface="Spline Sans"/>
                <a:sym typeface="Spline Sans"/>
              </a:rPr>
              <a:t>Studio Ghibli Movies</a:t>
            </a:r>
            <a:endParaRPr b="1"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Spline Sans Light"/>
              <a:ea typeface="Spline Sans Light"/>
              <a:cs typeface="Spline Sans Light"/>
              <a:sym typeface="Spline Sans Light"/>
            </a:endParaRPr>
          </a:p>
        </p:txBody>
      </p:sp>
      <p:sp>
        <p:nvSpPr>
          <p:cNvPr id="693" name="Google Shape;693;p50"/>
          <p:cNvSpPr txBox="1"/>
          <p:nvPr/>
        </p:nvSpPr>
        <p:spPr>
          <a:xfrm>
            <a:off x="5990825" y="3085525"/>
            <a:ext cx="2566500" cy="1763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Spline Sans"/>
                <a:ea typeface="Spline Sans"/>
                <a:cs typeface="Spline Sans"/>
                <a:sym typeface="Spline Sans"/>
              </a:rPr>
              <a:t>Exclusive In-App + Park Rewards</a:t>
            </a:r>
            <a:endParaRPr b="1" sz="1300">
              <a:solidFill>
                <a:schemeClr val="lt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Targets all subscribers + expands app-park integration.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Subscribers get rewards on the app and at the park.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Spline Sans"/>
                <a:ea typeface="Spline Sans"/>
                <a:cs typeface="Spline Sans"/>
                <a:sym typeface="Spline Sans"/>
              </a:rPr>
              <a:t>Ex. In game items, merch, etc.</a:t>
            </a:r>
            <a:endParaRPr b="1" sz="1300">
              <a:solidFill>
                <a:schemeClr val="lt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Spline Sans Light"/>
              <a:ea typeface="Spline Sans Light"/>
              <a:cs typeface="Spline Sans Light"/>
              <a:sym typeface="Spline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1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9" name="Google Shape;699;p51"/>
          <p:cNvSpPr/>
          <p:nvPr/>
        </p:nvSpPr>
        <p:spPr>
          <a:xfrm>
            <a:off x="4513486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0" name="Google Shape;700;p51"/>
          <p:cNvSpPr/>
          <p:nvPr/>
        </p:nvSpPr>
        <p:spPr>
          <a:xfrm>
            <a:off x="5377738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1" name="Google Shape;701;p51"/>
          <p:cNvSpPr/>
          <p:nvPr/>
        </p:nvSpPr>
        <p:spPr>
          <a:xfrm>
            <a:off x="6240321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2" name="Google Shape;702;p51"/>
          <p:cNvSpPr/>
          <p:nvPr/>
        </p:nvSpPr>
        <p:spPr>
          <a:xfrm>
            <a:off x="7967175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3" name="Google Shape;703;p51"/>
          <p:cNvSpPr/>
          <p:nvPr/>
        </p:nvSpPr>
        <p:spPr>
          <a:xfrm>
            <a:off x="7095177" y="25712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04" name="Google Shape;704;p51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373875" y="674437"/>
            <a:ext cx="509909" cy="3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Implementation </a:t>
            </a:r>
            <a:r>
              <a:rPr b="0" lang="en" sz="2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- </a:t>
            </a:r>
            <a:r>
              <a:rPr b="0" lang="en" sz="2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Roadmap 2026-2031</a:t>
            </a:r>
            <a:endParaRPr b="0" sz="2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06" name="Google Shape;706;p51"/>
          <p:cNvSpPr txBox="1"/>
          <p:nvPr>
            <p:ph type="title"/>
          </p:nvPr>
        </p:nvSpPr>
        <p:spPr>
          <a:xfrm>
            <a:off x="5709375" y="1304800"/>
            <a:ext cx="33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Capital Fund Allocation</a:t>
            </a:r>
            <a:endParaRPr b="0" sz="2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707" name="Google Shape;707;p5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7675" y="2269513"/>
            <a:ext cx="3148200" cy="194662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1"/>
          <p:cNvSpPr txBox="1"/>
          <p:nvPr>
            <p:ph type="title"/>
          </p:nvPr>
        </p:nvSpPr>
        <p:spPr>
          <a:xfrm>
            <a:off x="6266085" y="3497144"/>
            <a:ext cx="678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1 Billion</a:t>
            </a:r>
            <a:endParaRPr b="0" sz="1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09" name="Google Shape;709;p51"/>
          <p:cNvSpPr txBox="1"/>
          <p:nvPr>
            <p:ph type="title"/>
          </p:nvPr>
        </p:nvSpPr>
        <p:spPr>
          <a:xfrm>
            <a:off x="7129521" y="3428444"/>
            <a:ext cx="678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900</a:t>
            </a:r>
            <a:r>
              <a:rPr b="0" lang="en" sz="1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 Million</a:t>
            </a:r>
            <a:endParaRPr b="0" sz="1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10" name="Google Shape;710;p51"/>
          <p:cNvSpPr txBox="1"/>
          <p:nvPr>
            <p:ph type="title"/>
          </p:nvPr>
        </p:nvSpPr>
        <p:spPr>
          <a:xfrm>
            <a:off x="7967171" y="3429452"/>
            <a:ext cx="678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6</a:t>
            </a:r>
            <a:r>
              <a:rPr b="0" lang="en" sz="1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00 Million</a:t>
            </a:r>
            <a:endParaRPr b="0" sz="1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graphicFrame>
        <p:nvGraphicFramePr>
          <p:cNvPr id="711" name="Google Shape;711;p51"/>
          <p:cNvGraphicFramePr/>
          <p:nvPr/>
        </p:nvGraphicFramePr>
        <p:xfrm>
          <a:off x="450525" y="1237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{CDBB0EA1-A145-455E-8851-C54284BB4E1F}</a:tableStyleId>
              </a:tblPr>
              <a:tblGrid>
                <a:gridCol w="2612650"/>
                <a:gridCol w="2612650"/>
              </a:tblGrid>
              <a:tr h="10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2026 - 2027: Launching New Features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Work and release of Disney+ Games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Begin anime projects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Incorporate and expand Park Perks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4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2028 - 2029: Scale Engagement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Expand Disney+ Games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Release original  film and Star Wars series.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Continue to expand Park Perks + app features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9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2030 - 2031: Optimize and Grow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Scale successful games/anime projects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Spline Sans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Upgrade Park Perks tech + content flows.</a:t>
                      </a:r>
                      <a:endParaRPr sz="1300">
                        <a:solidFill>
                          <a:schemeClr val="dk1"/>
                        </a:solidFill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pic>
        <p:nvPicPr>
          <p:cNvPr id="712" name="Google Shape;71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8486" y="4011258"/>
            <a:ext cx="978300" cy="1001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2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18" name="Google Shape;718;p52"/>
          <p:cNvSpPr/>
          <p:nvPr/>
        </p:nvSpPr>
        <p:spPr>
          <a:xfrm>
            <a:off x="4513486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19" name="Google Shape;719;p52"/>
          <p:cNvSpPr/>
          <p:nvPr/>
        </p:nvSpPr>
        <p:spPr>
          <a:xfrm>
            <a:off x="5377738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0" name="Google Shape;720;p52"/>
          <p:cNvSpPr/>
          <p:nvPr/>
        </p:nvSpPr>
        <p:spPr>
          <a:xfrm>
            <a:off x="6240321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1" name="Google Shape;721;p52"/>
          <p:cNvSpPr/>
          <p:nvPr/>
        </p:nvSpPr>
        <p:spPr>
          <a:xfrm>
            <a:off x="7967175" y="25712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2" name="Google Shape;722;p52"/>
          <p:cNvSpPr/>
          <p:nvPr/>
        </p:nvSpPr>
        <p:spPr>
          <a:xfrm>
            <a:off x="7095177" y="25712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3" name="Google Shape;723;p52"/>
          <p:cNvSpPr txBox="1"/>
          <p:nvPr>
            <p:ph idx="1" type="subTitle"/>
          </p:nvPr>
        </p:nvSpPr>
        <p:spPr>
          <a:xfrm>
            <a:off x="452100" y="1677650"/>
            <a:ext cx="71610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.</a:t>
            </a:r>
            <a:endParaRPr sz="1600"/>
          </a:p>
        </p:txBody>
      </p:sp>
      <p:pic>
        <p:nvPicPr>
          <p:cNvPr id="724" name="Google Shape;724;p52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373875" y="674437"/>
            <a:ext cx="509909" cy="3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Implementation </a:t>
            </a:r>
            <a:r>
              <a:rPr b="0" lang="en" sz="2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- </a:t>
            </a:r>
            <a:r>
              <a:rPr b="0" lang="en" sz="2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Risk &amp; Mitigation</a:t>
            </a:r>
            <a:endParaRPr b="0" sz="2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graphicFrame>
        <p:nvGraphicFramePr>
          <p:cNvPr id="726" name="Google Shape;726;p52"/>
          <p:cNvGraphicFramePr/>
          <p:nvPr/>
        </p:nvGraphicFramePr>
        <p:xfrm>
          <a:off x="452100" y="1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{CDBB0EA1-A145-455E-8851-C54284BB4E1F}</a:tableStyleId>
              </a:tblPr>
              <a:tblGrid>
                <a:gridCol w="2748075"/>
                <a:gridCol w="2748075"/>
                <a:gridCol w="2748075"/>
              </a:tblGrid>
              <a:tr h="85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Pillar</a:t>
                      </a:r>
                      <a:endParaRPr b="1" sz="2500"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Risk</a:t>
                      </a:r>
                      <a:endParaRPr b="1" sz="2500"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Mitigation</a:t>
                      </a:r>
                      <a:endParaRPr b="1" sz="2500">
                        <a:latin typeface="Spline Sans"/>
                        <a:ea typeface="Spline Sans"/>
                        <a:cs typeface="Spline Sans"/>
                        <a:sym typeface="Spline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82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Disney+ Games</a:t>
                      </a:r>
                      <a:endParaRPr sz="1800"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Features may feel shallow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Test small pilots, keep what works.  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82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Disney: Anime</a:t>
                      </a:r>
                      <a:endParaRPr sz="1800"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Relying on one studio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Partner with multiple studios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82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Disney+ Park Perks</a:t>
                      </a:r>
                      <a:endParaRPr sz="1800"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Higher cost + privacy needs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pline Sans Medium"/>
                          <a:ea typeface="Spline Sans Medium"/>
                          <a:cs typeface="Spline Sans Medium"/>
                          <a:sym typeface="Spline Sans Medium"/>
                        </a:rPr>
                        <a:t>Introduce additions slowly</a:t>
                      </a:r>
                      <a:endParaRPr>
                        <a:latin typeface="Spline Sans Medium"/>
                        <a:ea typeface="Spline Sans Medium"/>
                        <a:cs typeface="Spline Sans Medium"/>
                        <a:sym typeface="Spline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3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2" name="Google Shape;732;p53"/>
          <p:cNvSpPr/>
          <p:nvPr/>
        </p:nvSpPr>
        <p:spPr>
          <a:xfrm>
            <a:off x="4566061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Current environment</a:t>
            </a:r>
            <a:endParaRPr sz="559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3" name="Google Shape;733;p53"/>
          <p:cNvSpPr/>
          <p:nvPr/>
        </p:nvSpPr>
        <p:spPr>
          <a:xfrm>
            <a:off x="5430313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S.W.O.T. analysis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4" name="Google Shape;734;p53"/>
          <p:cNvSpPr/>
          <p:nvPr/>
        </p:nvSpPr>
        <p:spPr>
          <a:xfrm>
            <a:off x="6292896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Strategy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5" name="Google Shape;735;p53"/>
          <p:cNvSpPr/>
          <p:nvPr/>
        </p:nvSpPr>
        <p:spPr>
          <a:xfrm>
            <a:off x="8019750" y="204775"/>
            <a:ext cx="978300" cy="346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41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KPIs</a:t>
            </a:r>
            <a:endParaRPr sz="741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6" name="Google Shape;736;p53"/>
          <p:cNvSpPr/>
          <p:nvPr/>
        </p:nvSpPr>
        <p:spPr>
          <a:xfrm>
            <a:off x="7147752" y="204775"/>
            <a:ext cx="978300" cy="346500"/>
          </a:xfrm>
          <a:prstGeom prst="chevron">
            <a:avLst>
              <a:gd fmla="val 50000" name="adj"/>
            </a:avLst>
          </a:prstGeom>
          <a:noFill/>
          <a:ln cap="flat" cmpd="sng" w="78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25" lIns="75225" spcFirstLastPara="1" rIns="75225" wrap="square" tIns="7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7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Implementation</a:t>
            </a:r>
            <a:endParaRPr sz="477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37" name="Google Shape;737;p53"/>
          <p:cNvSpPr txBox="1"/>
          <p:nvPr>
            <p:ph idx="1" type="subTitle"/>
          </p:nvPr>
        </p:nvSpPr>
        <p:spPr>
          <a:xfrm>
            <a:off x="548550" y="1338450"/>
            <a:ext cx="46836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-"/>
            </a:pPr>
            <a:r>
              <a:rPr lang="en" sz="1900">
                <a:solidFill>
                  <a:srgbClr val="FFFFFF"/>
                </a:solidFill>
              </a:rPr>
              <a:t>Engagement frequency rates</a:t>
            </a:r>
            <a:endParaRPr sz="1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-"/>
            </a:pPr>
            <a:r>
              <a:rPr lang="en" sz="1900">
                <a:solidFill>
                  <a:srgbClr val="FFFFFF"/>
                </a:solidFill>
              </a:rPr>
              <a:t>Disney+ churn rate</a:t>
            </a:r>
            <a:endParaRPr sz="1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-"/>
            </a:pPr>
            <a:r>
              <a:rPr lang="en" sz="1900">
                <a:solidFill>
                  <a:srgbClr val="FFFFFF"/>
                </a:solidFill>
              </a:rPr>
              <a:t>New IP viewership tracking</a:t>
            </a:r>
            <a:endParaRPr sz="19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-"/>
            </a:pPr>
            <a:r>
              <a:rPr lang="en" sz="1900">
                <a:solidFill>
                  <a:srgbClr val="FFFFFF"/>
                </a:solidFill>
              </a:rPr>
              <a:t>Customer lifetime value analysis</a:t>
            </a:r>
            <a:endParaRPr sz="1900">
              <a:solidFill>
                <a:srgbClr val="FFFFFF"/>
              </a:solidFill>
            </a:endParaRPr>
          </a:p>
        </p:txBody>
      </p:sp>
      <p:sp>
        <p:nvSpPr>
          <p:cNvPr id="738" name="Google Shape;738;p5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ugaz One"/>
                <a:ea typeface="Fugaz One"/>
                <a:cs typeface="Fugaz One"/>
                <a:sym typeface="Fugaz One"/>
              </a:rPr>
              <a:t>Key Performance Indicators</a:t>
            </a:r>
            <a:endParaRPr sz="3000">
              <a:solidFill>
                <a:srgbClr val="FFFFFF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739" name="Google Shape;739;p53"/>
          <p:cNvPicPr preferRelativeResize="0"/>
          <p:nvPr/>
        </p:nvPicPr>
        <p:blipFill rotWithShape="1">
          <a:blip r:embed="rId3">
            <a:alphaModFix/>
          </a:blip>
          <a:srcRect b="0" l="7507" r="9636" t="0"/>
          <a:stretch/>
        </p:blipFill>
        <p:spPr>
          <a:xfrm>
            <a:off x="8373875" y="674437"/>
            <a:ext cx="509909" cy="3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53"/>
          <p:cNvSpPr/>
          <p:nvPr/>
        </p:nvSpPr>
        <p:spPr>
          <a:xfrm>
            <a:off x="4943150" y="1338450"/>
            <a:ext cx="3728400" cy="3403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DCEC"/>
              </a:gs>
            </a:gsLst>
            <a:lin ang="5400012" scaled="0"/>
          </a:gra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500" lIns="104500" spcFirstLastPara="1" rIns="104500" wrap="square" tIns="10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Our Measurable Goals:</a:t>
            </a:r>
            <a:endParaRPr b="1" sz="1800" u="sng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2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-"/>
            </a:pP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10%</a:t>
            </a: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increase </a:t>
            </a: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in engagement frequency</a:t>
            </a:r>
            <a:endParaRPr sz="14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2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-"/>
            </a:pP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20%</a:t>
            </a: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 decrease for churn rate.</a:t>
            </a:r>
            <a:endParaRPr sz="14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2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-"/>
            </a:pP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IP Product will </a:t>
            </a: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bring in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3x </a:t>
            </a: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investment value.</a:t>
            </a:r>
            <a:endParaRPr b="1" sz="1400">
              <a:latin typeface="Lexend"/>
              <a:ea typeface="Lexend"/>
              <a:cs typeface="Lexend"/>
              <a:sym typeface="Lexend"/>
            </a:endParaRPr>
          </a:p>
          <a:p>
            <a:pPr indent="-317502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-"/>
            </a:pP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Within 6 months of dropping parks rewards, have an </a:t>
            </a:r>
            <a:r>
              <a:rPr b="1" lang="en" sz="1900">
                <a:latin typeface="Lexend"/>
                <a:ea typeface="Lexend"/>
                <a:cs typeface="Lexend"/>
                <a:sym typeface="Lexend"/>
              </a:rPr>
              <a:t>increase of 5%</a:t>
            </a:r>
            <a:r>
              <a:rPr lang="en" sz="1400">
                <a:latin typeface="Lexend Light"/>
                <a:ea typeface="Lexend Light"/>
                <a:cs typeface="Lexend Light"/>
                <a:sym typeface="Lexend Light"/>
              </a:rPr>
              <a:t> in visitors at parks daily.</a:t>
            </a:r>
            <a:endParaRPr sz="14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41" name="Google Shape;74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6575" y="4190114"/>
            <a:ext cx="1347200" cy="8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4"/>
          <p:cNvSpPr/>
          <p:nvPr/>
        </p:nvSpPr>
        <p:spPr>
          <a:xfrm>
            <a:off x="250" y="50"/>
            <a:ext cx="9144000" cy="51435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47" name="Google Shape;747;p54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</a:rPr>
              <a:t>Thank you!</a:t>
            </a:r>
            <a:endParaRPr sz="4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</a:rPr>
              <a:t>Q&amp;A</a:t>
            </a:r>
            <a:endParaRPr sz="3300">
              <a:solidFill>
                <a:srgbClr val="FFFFFF"/>
              </a:solidFill>
            </a:endParaRPr>
          </a:p>
        </p:txBody>
      </p:sp>
      <p:cxnSp>
        <p:nvCxnSpPr>
          <p:cNvPr id="748" name="Google Shape;748;p54"/>
          <p:cNvCxnSpPr/>
          <p:nvPr/>
        </p:nvCxnSpPr>
        <p:spPr>
          <a:xfrm>
            <a:off x="805925" y="590550"/>
            <a:ext cx="7200" cy="3832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